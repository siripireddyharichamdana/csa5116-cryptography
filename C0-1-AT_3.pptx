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06" autoAdjust="0"/>
  </p:normalViewPr>
  <p:slideViewPr>
    <p:cSldViewPr snapToGrid="0">
      <p:cViewPr varScale="1">
        <p:scale>
          <a:sx n="92" d="100"/>
          <a:sy n="92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C4539-5EEA-4986-A97F-19D95337699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673D7-DA1B-41CF-B825-DBF22FDAB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20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673D7-DA1B-41CF-B825-DBF22FDAB9D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993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7969-6631-F093-991B-90973D72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87F1F-1CA4-BD9B-4C2A-66CFB96BD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2B98A-5E18-9122-A789-1877E8875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11E34-7FC4-385D-EACE-AAAF29F68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673D7-DA1B-41CF-B825-DBF22FDAB9D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397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9E93-168E-E369-9EA6-2319252B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E3D5F-0AF6-8F00-9638-7F0C53328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EC2E6-F160-D39E-F912-E361B8FA4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E7D1F-6159-81BA-404B-BFAE6549F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673D7-DA1B-41CF-B825-DBF22FDAB9D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821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A53A3-5A1C-1990-153D-74A44294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BB681-62E9-1A17-C12F-8E3E93434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2F2EA-2CFF-66BA-2C14-DA20DB8E2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3660B-622A-5BB0-30CB-74C76F6C0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673D7-DA1B-41CF-B825-DBF22FDAB9D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782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6CEA-D4D3-B52D-060D-AB6F47DA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0C08A-F717-5505-B88D-74C9BE315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33698-23AC-4A75-7F22-688F85590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5A786-2084-6845-8421-FCB5E37F9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673D7-DA1B-41CF-B825-DBF22FDAB9D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632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4D92-62E6-6E39-88FE-E135744AF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70019-BE00-FEFB-D330-285E1866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60F7-09CE-D738-219A-1844EFEA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DFDAC-3133-A7EB-CD72-A6E1D74E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8AAA1-6931-E187-13A8-0072D40A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87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8926-B877-9B99-54F0-353CA02A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E5FB0-F9BD-5694-8375-0AE3F154F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7D2C5-21E6-F0C1-04FB-C7452E12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66299-D409-BCEA-AFF4-96862E35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F20AF-63C7-BA81-4A0D-871D449A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02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C023-FA18-A23C-FDD5-7A741402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4B439-8D53-492E-ACB0-4BB53D41F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7D8B5-ACC1-EF8A-5730-107F45C3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CEE33-FFC7-0E97-6D3B-ADF5D87C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4E7A1-688B-8E91-9E15-9B14CAFB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7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5D92-AE2B-A9D5-AC19-6CDD6346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C5C8-E2D4-DC36-5306-89E48A66D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7FF0-DDF2-977E-3A21-5DA0A6802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771BE-0F0D-FD32-3D58-742B04C6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9A36D-7D50-A09A-3299-E244D91B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3D079-BC1D-E0D2-1E32-01698088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3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FCB4-D7D0-FCE8-0176-1032424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351BC-43EF-2799-3EB3-D5DCABCA1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8B5C4-2A34-981E-B5ED-14CCA0ECA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3933-C038-3C79-E006-DB129BB7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22D9DD-0F84-FB20-9043-AE7DBDBED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C3FFBD-81D0-A1C8-BF4E-B7DFAB06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A8588-CD75-2388-59F8-3F81DF99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A00292-1ED6-3E00-3501-F9B48F96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72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D8A5-5804-3CDB-82BE-F9D86A3F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D62A3-CCC7-1A5A-1B7B-CDF450939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3D5F7-301E-0875-6CD1-E7DDCE1B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DF33B-2899-7718-928E-62FE3C60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47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6032E4-A152-C5AD-B1DF-01156D4B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3F7B1-2E47-AB1E-90F1-E452677C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C7CE7-AE05-884B-7433-AEA548F9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31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B31A-84CD-5846-C335-1B25B2CB9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99D81-2D0F-711E-9DBC-3D2E75ED8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2B521-EBFD-6A82-8C86-5D3AAF5FF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05D3B-8905-0BFD-2D50-4D6FA5BF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02FC5-A1E6-231E-64B8-DC8E36F4B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ECC7C-08BD-A542-9223-EABFB64B8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54309-3F34-5917-AF4C-59CB957E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0EFFCE-5219-677A-101E-008754CD7D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D383A-93AA-4DA4-FB26-BF45CC247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2440F-E199-877A-F3BE-D5F6E645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FE0A2-78F2-B9F8-3706-4E5D449F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88958-AF79-BD48-9AE9-4B96F004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8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0587-BCB3-625B-1DDE-9B5AF9015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96BAA-3392-C6ED-5A89-8A31B10A9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CC02-10D6-909C-30E3-7F7F5DFC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49416-6465-A971-7CA3-B50E4A3E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D26D1-3865-E102-D233-0D623B5B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85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B9227-E1CC-F545-9A4A-CCABBC247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4F734-486F-8738-57B4-062EA0C62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B2CFA-000A-9D7B-1334-45A9CD33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C9221-EB66-232F-6440-A7BD9CE2F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F059-D72C-DC8E-B789-541E5D99D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01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BB52D-7DE0-1E63-267F-B945058DB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AE577-485C-C524-2D2A-F53C3654B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43859-75E3-4201-B413-E939B541E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3C226-A6AD-4B61-A880-03EC369F21E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DAB5-9660-50BD-4F54-0AE2A59EB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35C38-2DAA-A48A-45E0-45212425E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4CA2-1B9D-4890-BA92-CB8B6EABF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83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39AC-8A0E-6A75-C4A8-236D209B1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3829"/>
          </a:xfrm>
        </p:spPr>
        <p:txBody>
          <a:bodyPr/>
          <a:lstStyle/>
          <a:p>
            <a:r>
              <a:rPr lang="en-IN" dirty="0"/>
              <a:t>Technical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FEF9-CFE1-A7CA-C72D-1D273474B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53055"/>
            <a:ext cx="9144000" cy="280474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Title:From Caesar to Vigenère: Evolution of Substitution Ciphers</a:t>
            </a:r>
            <a:endParaRPr lang="en-US" dirty="0"/>
          </a:p>
          <a:p>
            <a:endParaRPr lang="en-US" dirty="0"/>
          </a:p>
          <a:p>
            <a:r>
              <a:rPr lang="en-US" dirty="0"/>
              <a:t>Course name: Cryptography and Network Security</a:t>
            </a:r>
          </a:p>
          <a:p>
            <a:r>
              <a:rPr lang="en-US" dirty="0"/>
              <a:t>Course code: CSA5116</a:t>
            </a:r>
            <a:endParaRPr lang="en-IN" dirty="0"/>
          </a:p>
          <a:p>
            <a:r>
              <a:rPr lang="en-IN" dirty="0"/>
              <a:t>Name : Siripireddy Hari Chandana</a:t>
            </a:r>
          </a:p>
          <a:p>
            <a:r>
              <a:rPr lang="en-IN" dirty="0"/>
              <a:t>Reg no:192372136</a:t>
            </a:r>
          </a:p>
          <a:p>
            <a:endParaRPr lang="en-IN" dirty="0"/>
          </a:p>
        </p:txBody>
      </p:sp>
      <p:pic>
        <p:nvPicPr>
          <p:cNvPr id="5" name="Google Shape;186;p3">
            <a:extLst>
              <a:ext uri="{FF2B5EF4-FFF2-40B4-BE49-F238E27FC236}">
                <a16:creationId xmlns:a16="http://schemas.microsoft.com/office/drawing/2014/main" id="{7C659D80-FB35-F20D-6868-37C4C9A603B6}"/>
              </a:ext>
            </a:extLst>
          </p:cNvPr>
          <p:cNvPicPr preferRelativeResize="0"/>
          <p:nvPr/>
        </p:nvPicPr>
        <p:blipFill rotWithShape="1">
          <a:blip r:embed="rId2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5;p3">
            <a:extLst>
              <a:ext uri="{FF2B5EF4-FFF2-40B4-BE49-F238E27FC236}">
                <a16:creationId xmlns:a16="http://schemas.microsoft.com/office/drawing/2014/main" id="{65DCF2E0-49AB-2F8A-A64E-FCA96E5FF7EC}"/>
              </a:ext>
            </a:extLst>
          </p:cNvPr>
          <p:cNvPicPr preferRelativeResize="0"/>
          <p:nvPr/>
        </p:nvPicPr>
        <p:blipFill rotWithShape="1">
          <a:blip r:embed="rId2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682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5A66-868A-D2A0-437B-D30C4DF8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099" y="193974"/>
            <a:ext cx="9710651" cy="1325563"/>
          </a:xfrm>
        </p:spPr>
        <p:txBody>
          <a:bodyPr>
            <a:norm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67B1-08FB-AC2D-8996-A8BBECAF2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877" y="1213449"/>
            <a:ext cx="10203873" cy="567206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Caesar to Vigenère: Evolution of Substitution Ciphers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Substitution Cipher?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classical encryption technique where each plaintext letter is replaced with another letter.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protect information from unauthorized access.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of the cipher depends on the substitution rule (or key).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Substitution Ciphers</a:t>
            </a:r>
          </a:p>
        </p:txBody>
      </p:sp>
      <p:pic>
        <p:nvPicPr>
          <p:cNvPr id="5" name="Google Shape;186;p3">
            <a:extLst>
              <a:ext uri="{FF2B5EF4-FFF2-40B4-BE49-F238E27FC236}">
                <a16:creationId xmlns:a16="http://schemas.microsoft.com/office/drawing/2014/main" id="{6DB2D3F3-ED28-FF68-9C27-5D46D4ACF93C}"/>
              </a:ext>
            </a:extLst>
          </p:cNvPr>
          <p:cNvPicPr preferRelativeResize="0"/>
          <p:nvPr/>
        </p:nvPicPr>
        <p:blipFill rotWithShape="1">
          <a:blip r:embed="rId2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5;p3">
            <a:extLst>
              <a:ext uri="{FF2B5EF4-FFF2-40B4-BE49-F238E27FC236}">
                <a16:creationId xmlns:a16="http://schemas.microsoft.com/office/drawing/2014/main" id="{64B858FA-2858-A07F-5E8A-B11366A09450}"/>
              </a:ext>
            </a:extLst>
          </p:cNvPr>
          <p:cNvPicPr preferRelativeResize="0"/>
          <p:nvPr/>
        </p:nvPicPr>
        <p:blipFill rotWithShape="1">
          <a:blip r:embed="rId2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CBD93A-7201-2BFA-B6A5-0BA187FB9731}"/>
              </a:ext>
            </a:extLst>
          </p:cNvPr>
          <p:cNvSpPr/>
          <p:nvPr/>
        </p:nvSpPr>
        <p:spPr>
          <a:xfrm>
            <a:off x="3801688" y="4405745"/>
            <a:ext cx="2294312" cy="29925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Caesar Cipher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600B789-CFEC-C4A4-0C90-53B716EC3E41}"/>
              </a:ext>
            </a:extLst>
          </p:cNvPr>
          <p:cNvSpPr/>
          <p:nvPr/>
        </p:nvSpPr>
        <p:spPr>
          <a:xfrm>
            <a:off x="4741026" y="4754000"/>
            <a:ext cx="282633" cy="44888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E4A0FC-A49A-6DD3-A2C8-FE3058BE9E2E}"/>
              </a:ext>
            </a:extLst>
          </p:cNvPr>
          <p:cNvSpPr/>
          <p:nvPr/>
        </p:nvSpPr>
        <p:spPr>
          <a:xfrm>
            <a:off x="3715788" y="5251885"/>
            <a:ext cx="2685011" cy="3214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Monoalphabetic Cipher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A2D1A1FD-7330-480C-0292-7FB7ACF116A7}"/>
              </a:ext>
            </a:extLst>
          </p:cNvPr>
          <p:cNvSpPr/>
          <p:nvPr/>
        </p:nvSpPr>
        <p:spPr>
          <a:xfrm>
            <a:off x="4775661" y="5664745"/>
            <a:ext cx="282633" cy="44888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D01455-1899-50C0-1E32-8B6CF3C8E530}"/>
              </a:ext>
            </a:extLst>
          </p:cNvPr>
          <p:cNvSpPr/>
          <p:nvPr/>
        </p:nvSpPr>
        <p:spPr>
          <a:xfrm>
            <a:off x="3882044" y="6205069"/>
            <a:ext cx="2213956" cy="3214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Vigenère Cipher</a:t>
            </a:r>
          </a:p>
        </p:txBody>
      </p:sp>
    </p:spTree>
    <p:extLst>
      <p:ext uri="{BB962C8B-B14F-4D97-AF65-F5344CB8AC3E}">
        <p14:creationId xmlns:p14="http://schemas.microsoft.com/office/powerpoint/2010/main" val="291247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BC566-8671-9777-5F40-77D750B7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968E-6397-201C-A917-A8A6E831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982" y="365125"/>
            <a:ext cx="8952807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186;p3">
            <a:extLst>
              <a:ext uri="{FF2B5EF4-FFF2-40B4-BE49-F238E27FC236}">
                <a16:creationId xmlns:a16="http://schemas.microsoft.com/office/drawing/2014/main" id="{B1A33ABE-FAD3-AF80-38E5-629282F15B23}"/>
              </a:ext>
            </a:extLst>
          </p:cNvPr>
          <p:cNvPicPr preferRelativeResize="0"/>
          <p:nvPr/>
        </p:nvPicPr>
        <p:blipFill rotWithShape="1">
          <a:blip r:embed="rId2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5;p3">
            <a:extLst>
              <a:ext uri="{FF2B5EF4-FFF2-40B4-BE49-F238E27FC236}">
                <a16:creationId xmlns:a16="http://schemas.microsoft.com/office/drawing/2014/main" id="{1313FE45-01D6-D3E9-62F5-1A6C98967BEE}"/>
              </a:ext>
            </a:extLst>
          </p:cNvPr>
          <p:cNvPicPr preferRelativeResize="0"/>
          <p:nvPr/>
        </p:nvPicPr>
        <p:blipFill rotWithShape="1">
          <a:blip r:embed="rId2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87D907-E3CE-07F2-1953-5FE1D0AD5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" y="181731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Invented by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Julius Caesar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BC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letter is shifted by a fixed number of positions.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uses a shift of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23D6ECD-A9C2-1134-27AE-298BB5BCF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250245"/>
              </p:ext>
            </p:extLst>
          </p:nvPr>
        </p:nvGraphicFramePr>
        <p:xfrm>
          <a:off x="838200" y="3843352"/>
          <a:ext cx="10134600" cy="731520"/>
        </p:xfrm>
        <a:graphic>
          <a:graphicData uri="http://schemas.openxmlformats.org/drawingml/2006/table">
            <a:tbl>
              <a:tblPr/>
              <a:tblGrid>
                <a:gridCol w="1689100">
                  <a:extLst>
                    <a:ext uri="{9D8B030D-6E8A-4147-A177-3AD203B41FA5}">
                      <a16:colId xmlns:a16="http://schemas.microsoft.com/office/drawing/2014/main" val="585370269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3785846177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4202075300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325823830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3218736125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41390953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20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 (+3)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35514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51B89A7-56FA-887F-B4A4-19B38A2663C2}"/>
              </a:ext>
            </a:extLst>
          </p:cNvPr>
          <p:cNvSpPr txBox="1"/>
          <p:nvPr/>
        </p:nvSpPr>
        <p:spPr>
          <a:xfrm>
            <a:off x="729442" y="4701496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KHOOR</a:t>
            </a:r>
          </a:p>
        </p:txBody>
      </p:sp>
    </p:spTree>
    <p:extLst>
      <p:ext uri="{BB962C8B-B14F-4D97-AF65-F5344CB8AC3E}">
        <p14:creationId xmlns:p14="http://schemas.microsoft.com/office/powerpoint/2010/main" val="1065362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A3E7-8519-F1D9-620A-C9963EFC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EAE5-D32A-70DC-C28C-588267D1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982" y="365125"/>
            <a:ext cx="8952807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186;p3">
            <a:extLst>
              <a:ext uri="{FF2B5EF4-FFF2-40B4-BE49-F238E27FC236}">
                <a16:creationId xmlns:a16="http://schemas.microsoft.com/office/drawing/2014/main" id="{4A82FADC-E4B5-C08A-DCCF-019B980CC808}"/>
              </a:ext>
            </a:extLst>
          </p:cNvPr>
          <p:cNvPicPr preferRelativeResize="0"/>
          <p:nvPr/>
        </p:nvPicPr>
        <p:blipFill rotWithShape="1">
          <a:blip r:embed="rId2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5;p3">
            <a:extLst>
              <a:ext uri="{FF2B5EF4-FFF2-40B4-BE49-F238E27FC236}">
                <a16:creationId xmlns:a16="http://schemas.microsoft.com/office/drawing/2014/main" id="{2E4F8DCE-B267-9C79-7317-98350E2EB673}"/>
              </a:ext>
            </a:extLst>
          </p:cNvPr>
          <p:cNvPicPr preferRelativeResize="0"/>
          <p:nvPr/>
        </p:nvPicPr>
        <p:blipFill rotWithShape="1">
          <a:blip r:embed="rId2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9F116B8-9AA5-41BB-E855-70ADE9F45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7899" y="2219498"/>
            <a:ext cx="10341032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2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4CC3-6BAF-F059-1660-861BC854A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4668-82FC-414B-721A-5781D27A8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76" y="365125"/>
            <a:ext cx="923544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Cipher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FD2F4-C821-1D00-C3E4-791983C441C2}"/>
              </a:ext>
            </a:extLst>
          </p:cNvPr>
          <p:cNvSpPr txBox="1"/>
          <p:nvPr/>
        </p:nvSpPr>
        <p:spPr>
          <a:xfrm>
            <a:off x="2943225" y="2074985"/>
            <a:ext cx="79768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  <p:pic>
        <p:nvPicPr>
          <p:cNvPr id="8" name="Google Shape;186;p3">
            <a:extLst>
              <a:ext uri="{FF2B5EF4-FFF2-40B4-BE49-F238E27FC236}">
                <a16:creationId xmlns:a16="http://schemas.microsoft.com/office/drawing/2014/main" id="{F1548E78-35ED-EB19-F418-B18F94F15607}"/>
              </a:ext>
            </a:extLst>
          </p:cNvPr>
          <p:cNvPicPr preferRelativeResize="0"/>
          <p:nvPr/>
        </p:nvPicPr>
        <p:blipFill rotWithShape="1">
          <a:blip r:embed="rId3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5;p3">
            <a:extLst>
              <a:ext uri="{FF2B5EF4-FFF2-40B4-BE49-F238E27FC236}">
                <a16:creationId xmlns:a16="http://schemas.microsoft.com/office/drawing/2014/main" id="{E7C0A6EB-92F6-7EB1-B234-EAAB776BF948}"/>
              </a:ext>
            </a:extLst>
          </p:cNvPr>
          <p:cNvPicPr preferRelativeResize="0"/>
          <p:nvPr/>
        </p:nvPicPr>
        <p:blipFill rotWithShape="1">
          <a:blip r:embed="rId3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2DC458F-1286-BA28-1ACC-1EC6B84F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plaintext letter is replaced with a unique, randomly assigned letter.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substitution is used throughout the message.</a:t>
            </a:r>
          </a:p>
          <a:p>
            <a:pPr marL="0" indent="0">
              <a:buNone/>
            </a:pPr>
            <a:r>
              <a:rPr lang="en-IN" sz="1800" b="1" dirty="0"/>
              <a:t>Example Mapping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006923C-FEC5-0BDE-4AAF-2DC828364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125921"/>
              </p:ext>
            </p:extLst>
          </p:nvPr>
        </p:nvGraphicFramePr>
        <p:xfrm>
          <a:off x="944251" y="3374388"/>
          <a:ext cx="9975798" cy="731520"/>
        </p:xfrm>
        <a:graphic>
          <a:graphicData uri="http://schemas.openxmlformats.org/drawingml/2006/table">
            <a:tbl>
              <a:tblPr/>
              <a:tblGrid>
                <a:gridCol w="1425114">
                  <a:extLst>
                    <a:ext uri="{9D8B030D-6E8A-4147-A177-3AD203B41FA5}">
                      <a16:colId xmlns:a16="http://schemas.microsoft.com/office/drawing/2014/main" val="1810028452"/>
                    </a:ext>
                  </a:extLst>
                </a:gridCol>
                <a:gridCol w="1425114">
                  <a:extLst>
                    <a:ext uri="{9D8B030D-6E8A-4147-A177-3AD203B41FA5}">
                      <a16:colId xmlns:a16="http://schemas.microsoft.com/office/drawing/2014/main" val="1183479706"/>
                    </a:ext>
                  </a:extLst>
                </a:gridCol>
                <a:gridCol w="1425114">
                  <a:extLst>
                    <a:ext uri="{9D8B030D-6E8A-4147-A177-3AD203B41FA5}">
                      <a16:colId xmlns:a16="http://schemas.microsoft.com/office/drawing/2014/main" val="2766654773"/>
                    </a:ext>
                  </a:extLst>
                </a:gridCol>
                <a:gridCol w="1425114">
                  <a:extLst>
                    <a:ext uri="{9D8B030D-6E8A-4147-A177-3AD203B41FA5}">
                      <a16:colId xmlns:a16="http://schemas.microsoft.com/office/drawing/2014/main" val="2400607722"/>
                    </a:ext>
                  </a:extLst>
                </a:gridCol>
                <a:gridCol w="1425114">
                  <a:extLst>
                    <a:ext uri="{9D8B030D-6E8A-4147-A177-3AD203B41FA5}">
                      <a16:colId xmlns:a16="http://schemas.microsoft.com/office/drawing/2014/main" val="594197606"/>
                    </a:ext>
                  </a:extLst>
                </a:gridCol>
                <a:gridCol w="1425114">
                  <a:extLst>
                    <a:ext uri="{9D8B030D-6E8A-4147-A177-3AD203B41FA5}">
                      <a16:colId xmlns:a16="http://schemas.microsoft.com/office/drawing/2014/main" val="2872693847"/>
                    </a:ext>
                  </a:extLst>
                </a:gridCol>
                <a:gridCol w="1425114">
                  <a:extLst>
                    <a:ext uri="{9D8B030D-6E8A-4147-A177-3AD203B41FA5}">
                      <a16:colId xmlns:a16="http://schemas.microsoft.com/office/drawing/2014/main" val="380603898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6369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81864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CF65D7B-1638-2E40-AE3A-D15857EDFE31}"/>
              </a:ext>
            </a:extLst>
          </p:cNvPr>
          <p:cNvSpPr txBox="1"/>
          <p:nvPr/>
        </p:nvSpPr>
        <p:spPr>
          <a:xfrm>
            <a:off x="834251" y="4218105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HELLO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PTAAX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 mapping)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60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E00C-7DA5-7171-76E7-0DECC800C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3AE7-87E9-2632-84CB-5D75E0DE4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76" y="365125"/>
            <a:ext cx="923544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Cipher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B64BC-5DBC-65BB-686B-89FE80F3271E}"/>
              </a:ext>
            </a:extLst>
          </p:cNvPr>
          <p:cNvSpPr txBox="1"/>
          <p:nvPr/>
        </p:nvSpPr>
        <p:spPr>
          <a:xfrm>
            <a:off x="2943225" y="2074985"/>
            <a:ext cx="79768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  <p:pic>
        <p:nvPicPr>
          <p:cNvPr id="8" name="Google Shape;186;p3">
            <a:extLst>
              <a:ext uri="{FF2B5EF4-FFF2-40B4-BE49-F238E27FC236}">
                <a16:creationId xmlns:a16="http://schemas.microsoft.com/office/drawing/2014/main" id="{D6C1F4CC-E74C-D09F-4699-65DBA6BCAF49}"/>
              </a:ext>
            </a:extLst>
          </p:cNvPr>
          <p:cNvPicPr preferRelativeResize="0"/>
          <p:nvPr/>
        </p:nvPicPr>
        <p:blipFill rotWithShape="1">
          <a:blip r:embed="rId3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5;p3">
            <a:extLst>
              <a:ext uri="{FF2B5EF4-FFF2-40B4-BE49-F238E27FC236}">
                <a16:creationId xmlns:a16="http://schemas.microsoft.com/office/drawing/2014/main" id="{0E8B4BBE-4DF0-9F00-3FE8-97F51663796D}"/>
              </a:ext>
            </a:extLst>
          </p:cNvPr>
          <p:cNvPicPr preferRelativeResize="0"/>
          <p:nvPr/>
        </p:nvPicPr>
        <p:blipFill rotWithShape="1">
          <a:blip r:embed="rId3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5137C0-BD12-29F3-48A6-1ACB60C0E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63287" y="1936864"/>
            <a:ext cx="9850582" cy="384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2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42E6-CA1C-ABD0-C466-3A330874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594C-BE18-14C4-8DFA-544FB820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847" y="166464"/>
            <a:ext cx="8886306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C35B-D21C-2186-B3AE-FB552AB2D0AD}"/>
              </a:ext>
            </a:extLst>
          </p:cNvPr>
          <p:cNvSpPr txBox="1"/>
          <p:nvPr/>
        </p:nvSpPr>
        <p:spPr>
          <a:xfrm>
            <a:off x="2943225" y="2074985"/>
            <a:ext cx="79768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  <p:pic>
        <p:nvPicPr>
          <p:cNvPr id="8" name="Google Shape;186;p3">
            <a:extLst>
              <a:ext uri="{FF2B5EF4-FFF2-40B4-BE49-F238E27FC236}">
                <a16:creationId xmlns:a16="http://schemas.microsoft.com/office/drawing/2014/main" id="{23F18309-FE2B-6FAB-68C3-0A33E04873EE}"/>
              </a:ext>
            </a:extLst>
          </p:cNvPr>
          <p:cNvPicPr preferRelativeResize="0"/>
          <p:nvPr/>
        </p:nvPicPr>
        <p:blipFill rotWithShape="1">
          <a:blip r:embed="rId3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5;p3">
            <a:extLst>
              <a:ext uri="{FF2B5EF4-FFF2-40B4-BE49-F238E27FC236}">
                <a16:creationId xmlns:a16="http://schemas.microsoft.com/office/drawing/2014/main" id="{C4AD3859-7FE9-9AAA-5B7C-10D4A41DF7FC}"/>
              </a:ext>
            </a:extLst>
          </p:cNvPr>
          <p:cNvPicPr preferRelativeResize="0"/>
          <p:nvPr/>
        </p:nvPicPr>
        <p:blipFill rotWithShape="1">
          <a:blip r:embed="rId3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5092A03-20BE-8B66-3E99-BB5BB2C5D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perform multiple Caesar shifts.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shift changes for each letter, making encryption much stronger.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HELLO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KEYKE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RIJVS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801A88A-B393-2DE3-9B30-E155501F5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936502"/>
              </p:ext>
            </p:extLst>
          </p:nvPr>
        </p:nvGraphicFramePr>
        <p:xfrm>
          <a:off x="1213658" y="4101752"/>
          <a:ext cx="9518076" cy="1097280"/>
        </p:xfrm>
        <a:graphic>
          <a:graphicData uri="http://schemas.openxmlformats.org/drawingml/2006/table">
            <a:tbl>
              <a:tblPr/>
              <a:tblGrid>
                <a:gridCol w="1586346">
                  <a:extLst>
                    <a:ext uri="{9D8B030D-6E8A-4147-A177-3AD203B41FA5}">
                      <a16:colId xmlns:a16="http://schemas.microsoft.com/office/drawing/2014/main" val="3176288458"/>
                    </a:ext>
                  </a:extLst>
                </a:gridCol>
                <a:gridCol w="1586346">
                  <a:extLst>
                    <a:ext uri="{9D8B030D-6E8A-4147-A177-3AD203B41FA5}">
                      <a16:colId xmlns:a16="http://schemas.microsoft.com/office/drawing/2014/main" val="2242349190"/>
                    </a:ext>
                  </a:extLst>
                </a:gridCol>
                <a:gridCol w="1586346">
                  <a:extLst>
                    <a:ext uri="{9D8B030D-6E8A-4147-A177-3AD203B41FA5}">
                      <a16:colId xmlns:a16="http://schemas.microsoft.com/office/drawing/2014/main" val="3892346134"/>
                    </a:ext>
                  </a:extLst>
                </a:gridCol>
                <a:gridCol w="1586346">
                  <a:extLst>
                    <a:ext uri="{9D8B030D-6E8A-4147-A177-3AD203B41FA5}">
                      <a16:colId xmlns:a16="http://schemas.microsoft.com/office/drawing/2014/main" val="3079865649"/>
                    </a:ext>
                  </a:extLst>
                </a:gridCol>
                <a:gridCol w="1586346">
                  <a:extLst>
                    <a:ext uri="{9D8B030D-6E8A-4147-A177-3AD203B41FA5}">
                      <a16:colId xmlns:a16="http://schemas.microsoft.com/office/drawing/2014/main" val="3862583966"/>
                    </a:ext>
                  </a:extLst>
                </a:gridCol>
                <a:gridCol w="1586346">
                  <a:extLst>
                    <a:ext uri="{9D8B030D-6E8A-4147-A177-3AD203B41FA5}">
                      <a16:colId xmlns:a16="http://schemas.microsoft.com/office/drawing/2014/main" val="4247002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588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68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Cipher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464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1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4C20E-31FE-5B72-65C2-B53673C9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49E9-BEFE-F737-8E2B-4A3502CF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847" y="166464"/>
            <a:ext cx="8886306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91AE5-89E8-604C-0515-BECFF7F1D2BA}"/>
              </a:ext>
            </a:extLst>
          </p:cNvPr>
          <p:cNvSpPr txBox="1"/>
          <p:nvPr/>
        </p:nvSpPr>
        <p:spPr>
          <a:xfrm>
            <a:off x="2943225" y="2074985"/>
            <a:ext cx="79768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  <p:pic>
        <p:nvPicPr>
          <p:cNvPr id="8" name="Google Shape;186;p3">
            <a:extLst>
              <a:ext uri="{FF2B5EF4-FFF2-40B4-BE49-F238E27FC236}">
                <a16:creationId xmlns:a16="http://schemas.microsoft.com/office/drawing/2014/main" id="{08024F47-E0A5-69F1-A3F0-2FD64CFFC89C}"/>
              </a:ext>
            </a:extLst>
          </p:cNvPr>
          <p:cNvPicPr preferRelativeResize="0"/>
          <p:nvPr/>
        </p:nvPicPr>
        <p:blipFill rotWithShape="1">
          <a:blip r:embed="rId3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5;p3">
            <a:extLst>
              <a:ext uri="{FF2B5EF4-FFF2-40B4-BE49-F238E27FC236}">
                <a16:creationId xmlns:a16="http://schemas.microsoft.com/office/drawing/2014/main" id="{F7475298-260C-5D87-95F0-01D73C9148E2}"/>
              </a:ext>
            </a:extLst>
          </p:cNvPr>
          <p:cNvPicPr preferRelativeResize="0"/>
          <p:nvPr/>
        </p:nvPicPr>
        <p:blipFill rotWithShape="1">
          <a:blip r:embed="rId3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321CE2-8ADD-1DFF-5078-EF305265F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47652" y="1878676"/>
            <a:ext cx="10274530" cy="383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2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DE28-3F4F-A4EF-D037-C337D6C12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3DA0FC-4112-D620-595D-AA126ED3A9F4}"/>
              </a:ext>
            </a:extLst>
          </p:cNvPr>
          <p:cNvSpPr txBox="1"/>
          <p:nvPr/>
        </p:nvSpPr>
        <p:spPr>
          <a:xfrm>
            <a:off x="2943225" y="2074985"/>
            <a:ext cx="79768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  <p:pic>
        <p:nvPicPr>
          <p:cNvPr id="8" name="Google Shape;186;p3">
            <a:extLst>
              <a:ext uri="{FF2B5EF4-FFF2-40B4-BE49-F238E27FC236}">
                <a16:creationId xmlns:a16="http://schemas.microsoft.com/office/drawing/2014/main" id="{0038DBEE-5CEB-DFAB-B0E1-93429C8DA06F}"/>
              </a:ext>
            </a:extLst>
          </p:cNvPr>
          <p:cNvPicPr preferRelativeResize="0"/>
          <p:nvPr/>
        </p:nvPicPr>
        <p:blipFill rotWithShape="1">
          <a:blip r:embed="rId3"/>
          <a:srcRect l="50128" r="33632"/>
          <a:stretch>
            <a:fillRect/>
          </a:stretch>
        </p:blipFill>
        <p:spPr>
          <a:xfrm>
            <a:off x="364503" y="25755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5;p3">
            <a:extLst>
              <a:ext uri="{FF2B5EF4-FFF2-40B4-BE49-F238E27FC236}">
                <a16:creationId xmlns:a16="http://schemas.microsoft.com/office/drawing/2014/main" id="{802F9949-1A05-5209-4863-223CCE9DCD8A}"/>
              </a:ext>
            </a:extLst>
          </p:cNvPr>
          <p:cNvPicPr preferRelativeResize="0"/>
          <p:nvPr/>
        </p:nvPicPr>
        <p:blipFill rotWithShape="1">
          <a:blip r:embed="rId3"/>
          <a:srcRect r="88329"/>
          <a:stretch>
            <a:fillRect/>
          </a:stretch>
        </p:blipFill>
        <p:spPr>
          <a:xfrm>
            <a:off x="11061750" y="166464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0DF14-8FD4-9472-D574-972963C87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 descr="Thank you Images - Free Download on Magnific (formerly Freepik)">
            <a:extLst>
              <a:ext uri="{FF2B5EF4-FFF2-40B4-BE49-F238E27FC236}">
                <a16:creationId xmlns:a16="http://schemas.microsoft.com/office/drawing/2014/main" id="{DD1071A8-D678-B555-3F26-A72F80A67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538" y="2547937"/>
            <a:ext cx="4530437" cy="28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12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272</Words>
  <Application>Microsoft Office PowerPoint</Application>
  <PresentationFormat>Widescreen</PresentationFormat>
  <Paragraphs>100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Technical Presentation</vt:lpstr>
      <vt:lpstr>INTRODUCTION</vt:lpstr>
      <vt:lpstr>Caesar Cipher</vt:lpstr>
      <vt:lpstr>Caesar Cipher</vt:lpstr>
      <vt:lpstr>Monoalphabetic Cipher</vt:lpstr>
      <vt:lpstr>Monoalphabetic Cipher</vt:lpstr>
      <vt:lpstr>Vigenère Cipher</vt:lpstr>
      <vt:lpstr>Vigenère Cipher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Reddy</dc:creator>
  <cp:lastModifiedBy>Hari Reddy</cp:lastModifiedBy>
  <cp:revision>2</cp:revision>
  <dcterms:created xsi:type="dcterms:W3CDTF">2026-07-15T02:03:18Z</dcterms:created>
  <dcterms:modified xsi:type="dcterms:W3CDTF">2026-07-15T05:17:30Z</dcterms:modified>
</cp:coreProperties>
</file>